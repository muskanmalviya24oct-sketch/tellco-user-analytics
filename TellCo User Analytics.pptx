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NEXTHIKES IT SOLUTIONS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214120"/>
            <a:ext cx="9156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TellCo User Analytics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1981200"/>
            <a:ext cx="784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9B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Due-diligence analysis of a telecom acquisition target in the Republic of Pefkakia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831840"/>
            <a:ext cx="3452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Investor Due Diligence Team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37243" y="5831840"/>
            <a:ext cx="19419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106,856 users analyzed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04950"/>
            <a:ext cx="3403600" cy="1206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33550"/>
            <a:ext cx="30347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41400" y="2010410"/>
            <a:ext cx="30347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1400" y="2305050"/>
            <a:ext cx="30347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Handsets, manufacturers, app usage, PCA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94200" y="1504950"/>
            <a:ext cx="3403600" cy="1206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622800" y="1733550"/>
            <a:ext cx="30347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22800" y="2010410"/>
            <a:ext cx="30347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22800" y="2305050"/>
            <a:ext cx="30347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clusters, top apps, elbow method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75600" y="1504950"/>
            <a:ext cx="3403600" cy="1206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04200" y="1733550"/>
            <a:ext cx="30347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04200" y="2010410"/>
            <a:ext cx="30347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04200" y="2305050"/>
            <a:ext cx="30347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quality, handset performance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800" y="2965450"/>
            <a:ext cx="3403600" cy="1206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41400" y="3194050"/>
            <a:ext cx="30347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41400" y="3470910"/>
            <a:ext cx="30347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1400" y="3765550"/>
            <a:ext cx="30347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Scoring, modeling, operational tracking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94200" y="2965450"/>
            <a:ext cx="3403600" cy="1206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22800" y="3194050"/>
            <a:ext cx="30347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22800" y="3470910"/>
            <a:ext cx="30347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22800" y="3765550"/>
            <a:ext cx="30347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potential and buy/sell decision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75600" y="2965450"/>
            <a:ext cx="3403600" cy="1206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04200" y="3194050"/>
            <a:ext cx="30347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04200" y="3470910"/>
            <a:ext cx="30347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04200" y="3765550"/>
            <a:ext cx="30347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 on the analysis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2800" y="6256020"/>
            <a:ext cx="181375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TellCo User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Opportunity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54150"/>
            <a:ext cx="981075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investor specializes in undervalued assets and is evaluating </a:t>
            </a: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TellCo</a:t>
            </a: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mobile provider in Pefkakia. This analysis mines one month of xDR session data to find the profitable sub-segment that should drive the investment case — the same approach that drove 25% profit growth in a prior delivery-company acquisition.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2514600"/>
            <a:ext cx="3403600" cy="1219200"/>
          </a:xfrm>
          <a:prstGeom prst="roundRect">
            <a:avLst>
              <a:gd name="adj" fmla="val 8333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768600"/>
            <a:ext cx="29824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106,856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66800" y="3266441"/>
            <a:ext cx="2982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94200" y="2514600"/>
            <a:ext cx="3403600" cy="1219200"/>
          </a:xfrm>
          <a:prstGeom prst="roundRect">
            <a:avLst>
              <a:gd name="adj" fmla="val 8333"/>
            </a:avLst>
          </a:prstGeom>
          <a:solidFill>
            <a:srgbClr val="1B2430"/>
          </a:solidFill>
          <a:ln/>
        </p:spPr>
      </p:sp>
      <p:sp>
        <p:nvSpPr>
          <p:cNvPr id="8" name="Text 6"/>
          <p:cNvSpPr/>
          <p:nvPr/>
        </p:nvSpPr>
        <p:spPr>
          <a:xfrm>
            <a:off x="4648200" y="2768600"/>
            <a:ext cx="29824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148,935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48200" y="3266441"/>
            <a:ext cx="2982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xDR sessions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75600" y="2514600"/>
            <a:ext cx="3403600" cy="1219200"/>
          </a:xfrm>
          <a:prstGeom prst="roundRect">
            <a:avLst>
              <a:gd name="adj" fmla="val 8333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768600"/>
            <a:ext cx="29824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month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0" y="3266441"/>
            <a:ext cx="2982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aggregated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56020"/>
            <a:ext cx="181375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TellCo User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Device Landscape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09701"/>
          <a:ext cx="5851684" cy="2255520"/>
        </p:xfrm>
        <a:graphic>
          <a:graphicData uri="http://schemas.openxmlformats.org/drawingml/2006/table">
            <a:tbl>
              <a:tblPr/>
              <a:tblGrid>
                <a:gridCol w="2925842"/>
                <a:gridCol w="2925842"/>
              </a:tblGrid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Huawei B528S-23A (router)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iPhone 6S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iPhone 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iPhone 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iPhone 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877844" y="1399541"/>
            <a:ext cx="4501356" cy="657860"/>
          </a:xfrm>
          <a:prstGeom prst="roundRect">
            <a:avLst>
              <a:gd name="adj" fmla="val 15444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055644" y="1612900"/>
            <a:ext cx="50673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408920" y="1577341"/>
            <a:ext cx="7924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59,464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77844" y="2159000"/>
            <a:ext cx="4501356" cy="657860"/>
          </a:xfrm>
          <a:prstGeom prst="roundRect">
            <a:avLst>
              <a:gd name="adj" fmla="val 1544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055644" y="2372361"/>
            <a:ext cx="8370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408920" y="2336800"/>
            <a:ext cx="7924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40,579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77844" y="2918461"/>
            <a:ext cx="4501356" cy="657860"/>
          </a:xfrm>
          <a:prstGeom prst="roundRect">
            <a:avLst>
              <a:gd name="adj" fmla="val 1544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055644" y="3131820"/>
            <a:ext cx="66074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408920" y="3096261"/>
            <a:ext cx="7924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34,366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2800" y="3843020"/>
            <a:ext cx="98107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iPhones dominate the phone segment and a single fixed-wireless router is the single most common device — a distinct broadband customer group, not mobile handset users.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2800" y="6256021"/>
            <a:ext cx="191604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Task 1: User Overview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App Traffic Mix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399539"/>
            <a:ext cx="1270000" cy="1397000"/>
          </a:xfrm>
          <a:custGeom>
            <a:avLst/>
            <a:gdLst/>
            <a:ahLst/>
            <a:cxnLst/>
            <a:rect l="l" t="t" r="r" b="b"/>
            <a:pathLst>
              <a:path w="1270000" h="1397000">
                <a:moveTo>
                  <a:pt x="50800" y="0"/>
                </a:moveTo>
                <a:lnTo>
                  <a:pt x="1219200" y="0"/>
                </a:lnTo>
                <a:arcTo hR="50800" wR="50800" stAng="16200000" swAng="5400000"/>
                <a:lnTo>
                  <a:pt x="1270000" y="1397000"/>
                </a:lnTo>
                <a:lnTo>
                  <a:pt x="0" y="1397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2A9D8F"/>
          </a:solidFill>
          <a:ln/>
        </p:spPr>
        <p:txBody>
          <a:bodyPr wrap="square" lIns="0" tIns="10160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46.9%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84400" y="1405889"/>
            <a:ext cx="1270000" cy="1390650"/>
          </a:xfrm>
          <a:custGeom>
            <a:avLst/>
            <a:gdLst/>
            <a:ahLst/>
            <a:cxnLst/>
            <a:rect l="l" t="t" r="r" b="b"/>
            <a:pathLst>
              <a:path w="1270000" h="1390650">
                <a:moveTo>
                  <a:pt x="50800" y="0"/>
                </a:moveTo>
                <a:lnTo>
                  <a:pt x="1219200" y="0"/>
                </a:lnTo>
                <a:arcTo hR="50800" wR="50800" stAng="16200000" swAng="5400000"/>
                <a:lnTo>
                  <a:pt x="1270000" y="1390650"/>
                </a:lnTo>
                <a:lnTo>
                  <a:pt x="0" y="139065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E76F51"/>
          </a:solidFill>
          <a:ln/>
        </p:spPr>
        <p:txBody>
          <a:bodyPr wrap="square" lIns="0" tIns="10160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46.8%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556000" y="2694939"/>
            <a:ext cx="1270000" cy="101600"/>
          </a:xfrm>
          <a:custGeom>
            <a:avLst/>
            <a:gdLst/>
            <a:ahLst/>
            <a:cxnLst/>
            <a:rect l="l" t="t" r="r" b="b"/>
            <a:pathLst>
              <a:path w="1270000" h="101600">
                <a:moveTo>
                  <a:pt x="50800" y="0"/>
                </a:moveTo>
                <a:lnTo>
                  <a:pt x="1219200" y="0"/>
                </a:lnTo>
                <a:arcTo hR="50800" wR="50800" stAng="16200000" swAng="5400000"/>
                <a:lnTo>
                  <a:pt x="1270000" y="101600"/>
                </a:lnTo>
                <a:lnTo>
                  <a:pt x="0" y="1016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6" name="Shape 4"/>
          <p:cNvSpPr/>
          <p:nvPr/>
        </p:nvSpPr>
        <p:spPr>
          <a:xfrm>
            <a:off x="4927600" y="2694939"/>
            <a:ext cx="1270000" cy="101600"/>
          </a:xfrm>
          <a:custGeom>
            <a:avLst/>
            <a:gdLst/>
            <a:ahLst/>
            <a:cxnLst/>
            <a:rect l="l" t="t" r="r" b="b"/>
            <a:pathLst>
              <a:path w="1270000" h="101600">
                <a:moveTo>
                  <a:pt x="50800" y="0"/>
                </a:moveTo>
                <a:lnTo>
                  <a:pt x="1219200" y="0"/>
                </a:lnTo>
                <a:arcTo hR="50800" wR="50800" stAng="16200000" swAng="5400000"/>
                <a:lnTo>
                  <a:pt x="1270000" y="101600"/>
                </a:lnTo>
                <a:lnTo>
                  <a:pt x="0" y="1016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7" name="Shape 5"/>
          <p:cNvSpPr/>
          <p:nvPr/>
        </p:nvSpPr>
        <p:spPr>
          <a:xfrm>
            <a:off x="6299200" y="2745739"/>
            <a:ext cx="1270000" cy="50800"/>
          </a:xfrm>
          <a:custGeom>
            <a:avLst/>
            <a:gdLst/>
            <a:ahLst/>
            <a:cxnLst/>
            <a:rect l="l" t="t" r="r" b="b"/>
            <a:pathLst>
              <a:path w="1270000" h="50800">
                <a:moveTo>
                  <a:pt x="50800" y="0"/>
                </a:moveTo>
                <a:lnTo>
                  <a:pt x="1219200" y="0"/>
                </a:lnTo>
                <a:arcTo hR="50800" wR="50800" stAng="16200000" swAng="5400000"/>
                <a:lnTo>
                  <a:pt x="1270000" y="50800"/>
                </a:lnTo>
                <a:lnTo>
                  <a:pt x="0" y="508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974339"/>
            <a:ext cx="1320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59000" y="2974339"/>
            <a:ext cx="1320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30600" y="2974339"/>
            <a:ext cx="1320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2.5%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02200" y="2974339"/>
            <a:ext cx="1320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2.5%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73800" y="2974339"/>
            <a:ext cx="1320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0.9%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2800" y="3329939"/>
            <a:ext cx="1013777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and “Other” traffic together make up 93.7%</a:t>
            </a: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all app data — Gaming alone is ~19x any single named app. PCA shows one component explains </a:t>
            </a: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70.7%</a:t>
            </a: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usage variance across all 7 apps, loading almost evenly — users are broadly “light” or “heavy” across every app, not app-specialized.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56021"/>
            <a:ext cx="191604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Task 1: User Overview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Engagement Segments (k=3)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399539"/>
            <a:ext cx="3420507" cy="1315720"/>
          </a:xfrm>
          <a:prstGeom prst="roundRect">
            <a:avLst>
              <a:gd name="adj" fmla="val 772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602739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engagement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6000" y="1879600"/>
            <a:ext cx="310453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80,757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2334261"/>
            <a:ext cx="31045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· 1 session · ~498 MB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5707" y="1399539"/>
            <a:ext cx="3420586" cy="1315720"/>
          </a:xfrm>
          <a:prstGeom prst="roundRect">
            <a:avLst>
              <a:gd name="adj" fmla="val 772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88907" y="1602739"/>
            <a:ext cx="31046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engagement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88907" y="1879600"/>
            <a:ext cx="310461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21,756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88907" y="2334261"/>
            <a:ext cx="31046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· 2.1 sessions · ~1.1 GB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8693" y="1399539"/>
            <a:ext cx="3420507" cy="1315720"/>
          </a:xfrm>
          <a:prstGeom prst="roundRect">
            <a:avLst>
              <a:gd name="adj" fmla="val 7722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8161893" y="1602739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engagement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61893" y="1879600"/>
            <a:ext cx="310453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4,343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61893" y="2334261"/>
            <a:ext cx="31045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8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· 4.2 sessions · ~2.2 GB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2800" y="2893061"/>
            <a:ext cx="101377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is heavily skewed: a small </a:t>
            </a: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of users</a:t>
            </a: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over </a:t>
            </a: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 the data volume</a:t>
            </a: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light-engagement majority. This segment is the highest priority for retention and premium data-plan upselling.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56021"/>
            <a:ext cx="21680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Task 2: User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Validating k=3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399539"/>
            <a:ext cx="889000" cy="16510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4" name="Shape 2"/>
          <p:cNvSpPr/>
          <p:nvPr/>
        </p:nvSpPr>
        <p:spPr>
          <a:xfrm>
            <a:off x="1727200" y="2015489"/>
            <a:ext cx="889000" cy="103505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2641600" y="2352039"/>
            <a:ext cx="889000" cy="698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3556000" y="2466339"/>
            <a:ext cx="889000" cy="5842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7" name="Shape 5"/>
          <p:cNvSpPr/>
          <p:nvPr/>
        </p:nvSpPr>
        <p:spPr>
          <a:xfrm>
            <a:off x="4470400" y="2555239"/>
            <a:ext cx="889000" cy="4953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384800" y="2618739"/>
            <a:ext cx="889000" cy="4318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6299200" y="2675889"/>
            <a:ext cx="889000" cy="37465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7213600" y="2720339"/>
            <a:ext cx="889000" cy="3302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8128000" y="2745739"/>
            <a:ext cx="889000" cy="3048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2400" y="2771139"/>
            <a:ext cx="889000" cy="2794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3" name="Text 11"/>
          <p:cNvSpPr/>
          <p:nvPr/>
        </p:nvSpPr>
        <p:spPr>
          <a:xfrm>
            <a:off x="787400" y="3228339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01800" y="3228339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16200" y="3228339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30600" y="3228339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45000" y="3228339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59400" y="3228339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3800" y="3228339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88200" y="3228339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02600" y="3228339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17000" y="3228339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2800" y="3583939"/>
            <a:ext cx="101377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Within-cluster inertia drops sharply through </a:t>
            </a: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</a:t>
            </a: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levels off — confirming three engagement groups is a reasonable choice, not an arbitrary one. Top apps by total traffic: </a:t>
            </a: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Gaming, YouTube, Netflix.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56021"/>
            <a:ext cx="21680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Task 2: User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Network Experience Segments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09699"/>
          <a:ext cx="10556240" cy="1605280"/>
        </p:xfrm>
        <a:graphic>
          <a:graphicData uri="http://schemas.openxmlformats.org/drawingml/2006/table">
            <a:tbl>
              <a:tblPr/>
              <a:tblGrid>
                <a:gridCol w="2111248"/>
                <a:gridCol w="2111248"/>
                <a:gridCol w="2111248"/>
                <a:gridCol w="2111248"/>
                <a:gridCol w="2111248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RTT (ms)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Throughput (kbps)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TCP Retrans. (bytes)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experience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81,939 (77%)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experience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19,845 (19%)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23,747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 experience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5,072 (5%)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5.11M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192782"/>
            <a:ext cx="101377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 of users</a:t>
            </a: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(cluster “Worst experience”) show real network strain — </a:t>
            </a: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4-5x higher TCP retransmission</a:t>
            </a: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the rest, despite moderate throughput. This is a bounded, fixable problem, not systemic network failure.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56021"/>
            <a:ext cx="205606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Task 3: User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Throughput by Handset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09702"/>
          <a:ext cx="10556240" cy="204978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341630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Handset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Throughput (kbps)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Huawei B528S-23A (router)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A9D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21,131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Samsung Galaxy S8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iPhone 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4,695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iPhone 6S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6,759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Samsung Galaxy J5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2,748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2,348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637279"/>
            <a:ext cx="101377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spread across phones (~2,300–6,900 kbps) looks like a </a:t>
            </a: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device/modem capability issue</a:t>
            </a: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network availability issue — retransmission rates stay fairly stable across phone models.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56021"/>
            <a:ext cx="205606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Task 3: User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Satisfaction Scoring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399542"/>
            <a:ext cx="3403600" cy="1049020"/>
          </a:xfrm>
          <a:prstGeom prst="roundRect">
            <a:avLst>
              <a:gd name="adj" fmla="val 9685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602742"/>
            <a:ext cx="308711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16000" y="1864364"/>
            <a:ext cx="30871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distance from each user to the </a:t>
            </a: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least-engaged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cluster centre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94200" y="1399542"/>
            <a:ext cx="3403600" cy="1049020"/>
          </a:xfrm>
          <a:prstGeom prst="roundRect">
            <a:avLst>
              <a:gd name="adj" fmla="val 968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97400" y="1602742"/>
            <a:ext cx="308711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97400" y="1864364"/>
            <a:ext cx="30871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distance from each user to the </a:t>
            </a: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worst-experience</a:t>
            </a: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cluster centre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75600" y="1399542"/>
            <a:ext cx="3403600" cy="1049020"/>
          </a:xfrm>
          <a:prstGeom prst="roundRect">
            <a:avLst>
              <a:gd name="adj" fmla="val 9685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/>
          <p:nvPr/>
        </p:nvSpPr>
        <p:spPr>
          <a:xfrm>
            <a:off x="8178800" y="1602742"/>
            <a:ext cx="308711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78800" y="1864364"/>
            <a:ext cx="308711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B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engagement + experience scores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2800" y="2626364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clusters into two groups (k=2):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27681"/>
          <a:ext cx="10556240" cy="112776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Satisfaction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satisfaction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91,907 (86%)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satisfaction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14,949 (14%)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12800" y="6256021"/>
            <a:ext cx="243830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Task 4: Satisfaction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Predicting Satisfaction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399542"/>
            <a:ext cx="5194300" cy="148082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628142"/>
            <a:ext cx="487921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41400" y="1935479"/>
            <a:ext cx="48792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0.65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41400" y="2473964"/>
            <a:ext cx="487921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0.20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84900" y="1399542"/>
            <a:ext cx="5194300" cy="148082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13500" y="1628142"/>
            <a:ext cx="487921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13500" y="1935479"/>
            <a:ext cx="48792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0.99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13500" y="2473964"/>
            <a:ext cx="487921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0.03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2800" y="3058164"/>
            <a:ext cx="10566400" cy="863600"/>
          </a:xfrm>
          <a:prstGeom prst="roundRect">
            <a:avLst>
              <a:gd name="adj" fmla="val 11765"/>
            </a:avLst>
          </a:prstGeom>
          <a:solidFill>
            <a:srgbClr val="FDECEA"/>
          </a:solidFill>
          <a:ln/>
        </p:spPr>
        <p:txBody>
          <a:bodyPr wrap="square" lIns="209002" tIns="173442" rIns="0" bIns="1480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satisfaction score is built directly from the same engagement/experience metrics the model predicts it from. The very high Random Forest R² reflects this circularity, not validated forecasting accuracy on new, unseen behavior.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058164"/>
            <a:ext cx="10566400" cy="863600"/>
          </a:xfrm>
          <a:custGeom>
            <a:avLst/>
            <a:gdLst/>
            <a:ahLst/>
            <a:cxnLst/>
            <a:rect l="l" t="t" r="r" b="b"/>
            <a:pathLst>
              <a:path w="10566400" h="863600">
                <a:moveTo>
                  <a:pt x="101600" y="863600"/>
                </a:moveTo>
                <a:lnTo>
                  <a:pt x="101600" y="8636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762000"/>
                </a:lnTo>
                <a:arcTo hR="101600" wR="63500" stAng="10800000" swAng="-5400000"/>
                <a:close/>
              </a:path>
            </a:pathLst>
          </a:custGeom>
          <a:solidFill>
            <a:srgbClr val="E76F51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" y="6256021"/>
            <a:ext cx="242582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Task 4: Satisfaction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Operational Readiness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399542"/>
            <a:ext cx="5194300" cy="1430020"/>
          </a:xfrm>
          <a:prstGeom prst="roundRect">
            <a:avLst>
              <a:gd name="adj" fmla="val 7105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628142"/>
            <a:ext cx="48792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Export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41400" y="1930400"/>
            <a:ext cx="487921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user ID + engagement, experience &amp; satisfaction scores exported to a local MySQL database for downstream reporting and BI tool access.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84900" y="1399542"/>
            <a:ext cx="5194300" cy="1430020"/>
          </a:xfrm>
          <a:prstGeom prst="roundRect">
            <a:avLst>
              <a:gd name="adj" fmla="val 710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13500" y="1628142"/>
            <a:ext cx="48792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Tracking (MLflow)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13500" y="1930400"/>
            <a:ext cx="4879213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version, run timing, parameters, metrics, and loss convergence logged per run — the satisfaction model can be retrained and monitored over time as new monthly data arrives.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800" y="3007364"/>
            <a:ext cx="11379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pipelines are reusable, pip-installable Python code with unit test coverage — ready to run against future months of data without rebuilding from scratch.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6256021"/>
            <a:ext cx="243830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Task 4: Satisfaction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47142"/>
            <a:ext cx="10137775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Proceed with the acquisition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76121"/>
            <a:ext cx="10137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D8D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TellCo's usage is highly concentrated and segmentable — the same pattern that drove the delivery-company precedent. Growth levers are specific, not speculative: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748279"/>
            <a:ext cx="3420507" cy="774700"/>
          </a:xfrm>
          <a:prstGeom prst="roundRect">
            <a:avLst>
              <a:gd name="adj" fmla="val 11475"/>
            </a:avLst>
          </a:prstGeom>
          <a:solidFill>
            <a:srgbClr val="2A3540"/>
          </a:solidFill>
          <a:ln/>
        </p:spPr>
        <p:txBody>
          <a:bodyPr wrap="square" lIns="151762" tIns="151762" rIns="59815" bIns="126362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&amp; upsell the top 4% heavy-engagement segment driving outsized data volume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5707" y="2748279"/>
            <a:ext cx="3420586" cy="774700"/>
          </a:xfrm>
          <a:prstGeom prst="roundRect">
            <a:avLst>
              <a:gd name="adj" fmla="val 11475"/>
            </a:avLst>
          </a:prstGeom>
          <a:solidFill>
            <a:srgbClr val="2A3540"/>
          </a:solidFill>
          <a:ln/>
        </p:spPr>
        <p:txBody>
          <a:bodyPr wrap="square" lIns="151762" tIns="151762" rIns="59812" bIns="126362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network strain for the 5% worst-experience users — a bounded, targeted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8693" y="2748279"/>
            <a:ext cx="3420507" cy="774700"/>
          </a:xfrm>
          <a:prstGeom prst="roundRect">
            <a:avLst>
              <a:gd name="adj" fmla="val 11475"/>
            </a:avLst>
          </a:prstGeom>
          <a:solidFill>
            <a:srgbClr val="2A3540"/>
          </a:solidFill>
          <a:ln/>
        </p:spPr>
        <p:txBody>
          <a:bodyPr wrap="square" lIns="151762" tIns="151762" rIns="59815" bIns="126362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Monetize Gaming traffic (46.9% of volume) and upgrade the large older-iPhone 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2800" y="6256021"/>
            <a:ext cx="164934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Recommendation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41400" y="1399542"/>
            <a:ext cx="10229342" cy="2545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5740" indent="-156337">
              <a:lnSpc>
                <a:spcPts val="283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month</a:t>
            </a: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aggregated data — seasonal effects or one-off events are not visible</a:t>
            </a:r>
            <a:endParaRPr lang="en-US" sz="1350" dirty="0"/>
          </a:p>
          <a:p>
            <a:pPr algn="l" marL="205740" indent="-156337">
              <a:lnSpc>
                <a:spcPts val="283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and statistical outliers were replaced with the </a:t>
            </a: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mean</a:t>
            </a: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can soften the true spread of extreme users</a:t>
            </a:r>
            <a:endParaRPr lang="en-US" sz="1350" dirty="0"/>
          </a:p>
          <a:p>
            <a:pPr algn="l" marL="205740" indent="-156337">
              <a:lnSpc>
                <a:spcPts val="283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satisfaction score is built from the same metrics the regression model predicts it from — the 0.99 R² reflects this circularity, not real forecasting power</a:t>
            </a:r>
            <a:endParaRPr lang="en-US" sz="1350" dirty="0"/>
          </a:p>
          <a:p>
            <a:pPr algn="l" marL="205740" indent="-156337">
              <a:lnSpc>
                <a:spcPts val="283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“Other” traffic (46.8% of volume) is an unclassified catch-all, not an actionable app</a:t>
            </a:r>
            <a:endParaRPr lang="en-US" sz="1350" dirty="0"/>
          </a:p>
          <a:p>
            <a:pPr algn="l" marL="205740" indent="-156337">
              <a:lnSpc>
                <a:spcPts val="283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~9,000 sessions had unidentified handsets, excluded from device-level analysis</a:t>
            </a:r>
            <a:endParaRPr lang="en-US" sz="1350" dirty="0"/>
          </a:p>
          <a:p>
            <a:pPr algn="l" marL="205740" indent="-156337">
              <a:lnSpc>
                <a:spcPts val="2835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counts (k=3, k=2) were set by the elbow method or by design — not independently validated beyond that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6256021"/>
            <a:ext cx="113680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Limitations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14879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2827021"/>
            <a:ext cx="104648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2860"/>
              </a:lnSpc>
              <a:buSzPct val="100000"/>
              <a:buChar char="•"/>
            </a:pPr>
            <a:r>
              <a:rPr lang="en-US" sz="1300" dirty="0">
                <a:solidFill>
                  <a:srgbClr val="D8D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Nexthikes IT Solutions, </a:t>
            </a:r>
            <a:r>
              <a:rPr lang="en-US" sz="1300" i="1" dirty="0">
                <a:solidFill>
                  <a:srgbClr val="D8D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Analytics in the Telecommunication Industry — Project Brief</a:t>
            </a:r>
            <a:endParaRPr lang="en-US" sz="1300" dirty="0"/>
          </a:p>
          <a:p>
            <a:pPr algn="l" marL="198120" indent="-155956">
              <a:lnSpc>
                <a:spcPts val="2860"/>
              </a:lnSpc>
              <a:buSzPct val="100000"/>
              <a:buChar char="•"/>
            </a:pPr>
            <a:r>
              <a:rPr lang="en-US" sz="1300" dirty="0">
                <a:solidFill>
                  <a:srgbClr val="D8D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TellCo xDR session dataset, one month of aggregated network and application usage records</a:t>
            </a:r>
            <a:endParaRPr lang="en-US" sz="1300" dirty="0"/>
          </a:p>
          <a:p>
            <a:pPr algn="l" marL="198120" indent="-155956">
              <a:lnSpc>
                <a:spcPts val="2860"/>
              </a:lnSpc>
              <a:buSzPct val="100000"/>
              <a:buChar char="•"/>
            </a:pPr>
            <a:r>
              <a:rPr lang="en-US" sz="1300" dirty="0">
                <a:solidFill>
                  <a:srgbClr val="D8D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Descriptions reference document (variable definitions)</a:t>
            </a:r>
            <a:endParaRPr lang="en-US" sz="1300" dirty="0"/>
          </a:p>
          <a:p>
            <a:pPr algn="l" marL="198120" indent="-155956">
              <a:lnSpc>
                <a:spcPts val="2860"/>
              </a:lnSpc>
              <a:buSzPct val="100000"/>
              <a:buChar char="•"/>
            </a:pPr>
            <a:r>
              <a:rPr lang="en-US" sz="1300" dirty="0">
                <a:solidFill>
                  <a:srgbClr val="D8D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notebook: </a:t>
            </a:r>
            <a:r>
              <a:rPr lang="en-US" sz="1300" i="1" dirty="0">
                <a:solidFill>
                  <a:srgbClr val="D8D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TellCo_User_Analytics.ipynb</a:t>
            </a:r>
            <a:r>
              <a:rPr lang="en-US" sz="1300" dirty="0">
                <a:solidFill>
                  <a:srgbClr val="D8D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data cleaning, Tasks 1–4</a:t>
            </a:r>
            <a:endParaRPr lang="en-US" sz="1300" dirty="0"/>
          </a:p>
          <a:p>
            <a:pPr algn="l" marL="198120" indent="-155956">
              <a:lnSpc>
                <a:spcPts val="2860"/>
              </a:lnSpc>
              <a:buSzPct val="100000"/>
              <a:buChar char="•"/>
            </a:pPr>
            <a:r>
              <a:rPr lang="en-US" sz="1300" dirty="0">
                <a:solidFill>
                  <a:srgbClr val="D8D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(k-means, PCA, regression); MLflow (model tracking); MySQL (feature export)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6256021"/>
            <a:ext cx="119272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References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TellCo User Analytics</dc:title>
  <dc:subject/>
  <dc:creator/>
  <cp:lastModifiedBy/>
  <cp:revision>1</cp:revision>
  <dcterms:created xsi:type="dcterms:W3CDTF">2026-10-02T07:29:25Z</dcterms:created>
  <dcterms:modified xsi:type="dcterms:W3CDTF">2026-10-02T07:29:25Z</dcterms:modified>
</cp:coreProperties>
</file>